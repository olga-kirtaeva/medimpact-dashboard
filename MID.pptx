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8" r:id="rId5"/>
    <p:sldId id="261" r:id="rId6"/>
    <p:sldId id="262" r:id="rId7"/>
    <p:sldId id="263" r:id="rId8"/>
    <p:sldId id="257" r:id="rId9"/>
    <p:sldId id="264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1" d="100"/>
          <a:sy n="81" d="100"/>
        </p:scale>
        <p:origin x="423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15:36:04.60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1832 24575,'2'-1'0,"0"0"0,1 0 0,-1 0 0,0 0 0,0-1 0,0 1 0,0-1 0,0 1 0,-1-1 0,1 0 0,0 0 0,-1 0 0,1 0 0,-1 0 0,1 0 0,-1 0 0,0 0 0,1-3 0,6-7 0,16-21 0,2 1 0,45-42 0,69-49 0,-48 44 0,123-116 0,-73 94 0,-98 73 0,-1-2 0,43-40 0,-68 55 0,1 1 0,1 1 0,1 0 0,0 2 0,37-15 0,8-5 0,-19 7 0,-2-3 0,56-41 0,55-43 0,-72 54 0,16-15 0,-87 63 0,0-2 0,-1 0 0,18-20 0,-17 17 0,0 1 0,22-17 0,6 3 0,46-22 0,-1 0 0,-63 33 0,0-2 0,-1 0 0,31-34 0,-32 29 0,2 2 0,42-33 0,66-39-1365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15:36:06.79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0 512 24575,'1'-3'0,"-1"0"0,1 1 0,-1-1 0,1 0 0,0 1 0,0-1 0,0 1 0,1-1 0,-1 1 0,1-1 0,-1 1 0,1 0 0,0 0 0,0 0 0,0 0 0,3-3 0,42-29 0,-35 26 0,68-40 0,2 3 0,87-33 0,-114 54 0,-34 16 0,0 1 0,1 0 0,27-3 0,-27 6 0,0-1 0,-1 0 0,31-14 0,1-7 0,-30 13 0,1 2 0,0 1 0,29-9 0,210-55-1365,-226 62-5461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15:36:09.30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1255 24575,'5'-7'0,"-1"-1"0,1 1 0,-1-1 0,-1 1 0,1-1 0,-1-1 0,-1 1 0,1 0 0,-1-1 0,-1 1 0,1-11 0,10-38 0,55-191 0,-67 245 0,15-81 0,-10 51 0,9-34 0,27-66 0,4 2 0,-37 106 0,-2 0 0,-1 0 0,0-1 0,-2 0 0,-1 0 0,-3-43 0,4-31 0,-2 85-455,2 1 0,7-28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8A482B-DA84-5CCC-607D-8180045E7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de-CH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ABFCD3-79BA-E4F9-0C61-B9116E3E7E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de-CH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EEEEF3-EE0B-3DDC-2ACB-8DADF93FB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CC03A-FFD4-4653-A0F8-63A947287ADC}" type="datetimeFigureOut">
              <a:rPr lang="de-CH" smtClean="0"/>
              <a:t>22.10.2026</a:t>
            </a:fld>
            <a:endParaRPr lang="de-CH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F0C34F-957F-5654-CAB5-B39CEAEC1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2C4E12-E49B-5394-73C1-B9274FB2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A9F4-3555-4FD4-AAE2-A06C54F9CFA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73594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27351D-B4A8-89B6-ADE9-E9282F5FA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de-CH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FCC7BD-32F3-ACE1-1E55-9C8861912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CH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1348ED-B3C8-1190-4F53-85316F679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CC03A-FFD4-4653-A0F8-63A947287ADC}" type="datetimeFigureOut">
              <a:rPr lang="de-CH" smtClean="0"/>
              <a:t>22.10.2026</a:t>
            </a:fld>
            <a:endParaRPr lang="de-CH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6E0E90-E191-2605-F98D-58BF8F65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27A57A-23CE-5DF8-FDB1-8F67ACDB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A9F4-3555-4FD4-AAE2-A06C54F9CFA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90453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1E1AD1-A23A-934C-1A7D-89661C859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de-CH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D11492-8CB5-A250-334A-E6B82EF1C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7E2962-0768-754A-ED41-DD3AFC423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CC03A-FFD4-4653-A0F8-63A947287ADC}" type="datetimeFigureOut">
              <a:rPr lang="de-CH" smtClean="0"/>
              <a:t>22.10.2026</a:t>
            </a:fld>
            <a:endParaRPr lang="de-CH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818B1B-7022-5B37-AFB8-2644B0D51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2FB91B-9FF2-41F5-EFD2-761D5014E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A9F4-3555-4FD4-AAE2-A06C54F9CFA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64486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7EB885-83C7-FB65-6C16-7679E9A9E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de-CH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44B9C7-0D45-DD93-EEC2-70B695E83D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CH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94ECA35-BE50-2AAD-F601-6147BA6A61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CH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B084D08-3103-C35F-897E-CA3948954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CC03A-FFD4-4653-A0F8-63A947287ADC}" type="datetimeFigureOut">
              <a:rPr lang="de-CH" smtClean="0"/>
              <a:t>22.10.2026</a:t>
            </a:fld>
            <a:endParaRPr lang="de-CH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D766E98-15DC-2351-0086-10EFCAE2B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3185E66-AAEE-A974-910A-78351CB65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A9F4-3555-4FD4-AAE2-A06C54F9CFA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14277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E34849-5BF2-55CB-55FA-F46105E9B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de-CH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5A623E-0D4F-49B5-7A19-35C46D02C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6E06679-8DF3-CF1D-1321-B43F5E45F2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CH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F6A54D6-70A4-1974-D9F8-3C100559C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FFF22BD-C140-7CCC-0C94-0738D438F0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CH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A659C58-E9B6-A239-7529-4100032E2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CC03A-FFD4-4653-A0F8-63A947287ADC}" type="datetimeFigureOut">
              <a:rPr lang="de-CH" smtClean="0"/>
              <a:t>22.10.2026</a:t>
            </a:fld>
            <a:endParaRPr lang="de-CH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7FA042E-5E38-98D0-9FF9-23D7B6B30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17F72B7-8B56-A5C7-7EAF-450C44A5E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A9F4-3555-4FD4-AAE2-A06C54F9CFA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51398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4893E9-38E4-6FE6-586B-D76277F1D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de-CH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475A06C-849F-484F-7B5C-D3E503EB7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CC03A-FFD4-4653-A0F8-63A947287ADC}" type="datetimeFigureOut">
              <a:rPr lang="de-CH" smtClean="0"/>
              <a:t>22.10.2026</a:t>
            </a:fld>
            <a:endParaRPr lang="de-CH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751F357-EBC7-29B6-B351-359D3963A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937D056-CE63-E638-0F8D-D4579FABA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A9F4-3555-4FD4-AAE2-A06C54F9CFA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95693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CC357A9-5654-6F8C-2865-397A1F615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CC03A-FFD4-4653-A0F8-63A947287ADC}" type="datetimeFigureOut">
              <a:rPr lang="de-CH" smtClean="0"/>
              <a:t>22.10.2026</a:t>
            </a:fld>
            <a:endParaRPr lang="de-CH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FE19A87-45AB-1EA6-A522-FB6FE61D9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EA7981F-CF8F-0E5A-B8C3-2E0E0ACDE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A9F4-3555-4FD4-AAE2-A06C54F9CFA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04923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42F441-09AA-A411-58FC-50297F1FD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de-CH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8ED025-00A6-826D-9D2B-7CF7CAE38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CH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1218EC-7207-1018-8706-5DA9C6394B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A3C73C9-CB50-99AE-34BA-42A25F061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CC03A-FFD4-4653-A0F8-63A947287ADC}" type="datetimeFigureOut">
              <a:rPr lang="de-CH" smtClean="0"/>
              <a:t>22.10.2026</a:t>
            </a:fld>
            <a:endParaRPr lang="de-CH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098ACFE-DE28-422C-37BE-B6222203B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7D0409D-902B-1E0F-76B2-895FD669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A9F4-3555-4FD4-AAE2-A06C54F9CFA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2719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DD395E-D9F8-23BA-E231-6FF638F95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de-CH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BF1B8FA-2744-3FBE-D52B-882B371726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53C7EF3-26CC-6AC6-ED91-F3B15667A5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B6C16B-BB5D-9605-6C65-B49655FCB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CC03A-FFD4-4653-A0F8-63A947287ADC}" type="datetimeFigureOut">
              <a:rPr lang="de-CH" smtClean="0"/>
              <a:t>22.10.2026</a:t>
            </a:fld>
            <a:endParaRPr lang="de-CH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E84A8F-37D1-3014-3187-D5028A397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974FB9-DFE8-B15D-8DE5-B8F6BD816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A9F4-3555-4FD4-AAE2-A06C54F9CFA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85767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0B4B81-9D57-89AD-EBD4-21F457054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de-CH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CA15AB0-6DC1-9859-CA74-4A1EDAD649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CH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2F848D-89A8-2F61-9E48-E52BB733F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CC03A-FFD4-4653-A0F8-63A947287ADC}" type="datetimeFigureOut">
              <a:rPr lang="de-CH" smtClean="0"/>
              <a:t>22.10.2026</a:t>
            </a:fld>
            <a:endParaRPr lang="de-CH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F26B50-9783-D572-7D1B-362933EFD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2DDB77-B6EF-8F63-C0B7-5CB9968F8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A9F4-3555-4FD4-AAE2-A06C54F9CFA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84244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27900D8-95AD-AD2A-ECBC-D41EC9C510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de-CH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E7DFE2D-66E4-EE21-07E5-B50A0EAEE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CH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13A33D-837A-7189-C3E1-8AFECF266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CC03A-FFD4-4653-A0F8-63A947287ADC}" type="datetimeFigureOut">
              <a:rPr lang="de-CH" smtClean="0"/>
              <a:t>22.10.2026</a:t>
            </a:fld>
            <a:endParaRPr lang="de-CH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8AE93C-6E9D-E326-24FE-5F8D0D253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379DDA-C7BD-5F3B-B5B3-5D8EE4AB4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A9F4-3555-4FD4-AAE2-A06C54F9CFA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20806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5A4F2E-1DAD-F5F5-8A3B-9676FEAAC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de-CH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EC8CC05-AA93-C406-1A60-C6125A734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CH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A13085-9C84-5D61-DD42-5E9209921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6CC03A-FFD4-4653-A0F8-63A947287ADC}" type="datetimeFigureOut">
              <a:rPr lang="de-CH" smtClean="0"/>
              <a:t>22.10.2026</a:t>
            </a:fld>
            <a:endParaRPr lang="de-CH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7CD3E7-8B54-AB2A-B99A-90E5EEBCA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C1CC52-FF35-7484-CABE-7E7979355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04A9F4-3555-4FD4-AAE2-A06C54F9CFA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04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vgsilh.com/ru/image/2304567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sa/3.0/" TargetMode="External"/><Relationship Id="rId5" Type="http://schemas.openxmlformats.org/officeDocument/2006/relationships/hyperlink" Target="https://de.wikipedia.org/wiki/Naltrexon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8395AB-8FE8-20DB-7B2B-A2AE5E9B4B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C843B9A-8F6B-4B27-2CE9-C5A401559B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CH" dirty="0"/>
          </a:p>
        </p:txBody>
      </p:sp>
      <p:pic>
        <p:nvPicPr>
          <p:cNvPr id="11" name="Рисунок 10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942A0A0-83C8-A09F-F4B6-8650308AB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2711" y="-47065"/>
            <a:ext cx="12755821" cy="690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662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B02E3D-83A1-3AB4-EBC8-E28F7E054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CH" dirty="0"/>
              <a:t>Das Ziel. Die Anwendung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C964A5-E8EF-1223-E0EC-026643AAB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4638" y="1825625"/>
            <a:ext cx="9959162" cy="4351338"/>
          </a:xfrm>
        </p:spPr>
        <p:txBody>
          <a:bodyPr/>
          <a:lstStyle/>
          <a:p>
            <a:pPr marL="0" indent="0">
              <a:buNone/>
            </a:pPr>
            <a:r>
              <a:rPr lang="de-CH" dirty="0"/>
              <a:t>Das Ziel dieses Programms ist die Analyse der Korrelation zwischen der Einnahme von Medikamenten und physiologischen Messungen. </a:t>
            </a:r>
          </a:p>
          <a:p>
            <a:pPr marL="0" indent="0">
              <a:buNone/>
            </a:pPr>
            <a:r>
              <a:rPr lang="de-CH" dirty="0"/>
              <a:t>Es kann bei der Durchführung klinischer Studien für neue Arzneimittel oder bei der individuellen Therapieauswahl für Patienten eingesetzt werden. </a:t>
            </a:r>
          </a:p>
        </p:txBody>
      </p:sp>
      <p:pic>
        <p:nvPicPr>
          <p:cNvPr id="5" name="Рисунок 4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110F3F6-5966-DD15-C875-E9F1A3CA3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83019" y="1623236"/>
            <a:ext cx="811619" cy="811619"/>
          </a:xfrm>
          <a:prstGeom prst="rect">
            <a:avLst/>
          </a:prstGeom>
        </p:spPr>
      </p:pic>
      <p:pic>
        <p:nvPicPr>
          <p:cNvPr id="10" name="Рисунок 9" descr="Изображение выглядит как черный, темнота, луна, ноч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CA75527-853A-5279-C4B6-8B02177E6C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21161" y="3020125"/>
            <a:ext cx="981169" cy="9811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D33035-0406-7056-49EC-5063C2B2C733}"/>
              </a:ext>
            </a:extLst>
          </p:cNvPr>
          <p:cNvSpPr txBox="1"/>
          <p:nvPr/>
        </p:nvSpPr>
        <p:spPr>
          <a:xfrm>
            <a:off x="838200" y="6061547"/>
            <a:ext cx="67627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900" dirty="0">
                <a:hlinkClick r:id="rId6" tooltip="https://creativecommons.org/licenses/by-sa/3.0/"/>
              </a:rPr>
              <a:t>Lizenz: CC BY-SA</a:t>
            </a:r>
            <a:endParaRPr lang="de-CH" sz="900" dirty="0"/>
          </a:p>
        </p:txBody>
      </p:sp>
    </p:spTree>
    <p:extLst>
      <p:ext uri="{BB962C8B-B14F-4D97-AF65-F5344CB8AC3E}">
        <p14:creationId xmlns:p14="http://schemas.microsoft.com/office/powerpoint/2010/main" val="4070474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8FD07E8-38C3-796A-44BB-9F236C0E1B16}"/>
              </a:ext>
            </a:extLst>
          </p:cNvPr>
          <p:cNvSpPr/>
          <p:nvPr/>
        </p:nvSpPr>
        <p:spPr>
          <a:xfrm>
            <a:off x="4206687" y="1812178"/>
            <a:ext cx="3680013" cy="435133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5ADD4E-703B-F11D-670E-31D970DAA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CH" dirty="0"/>
              <a:t>3-Tier Architecture</a:t>
            </a:r>
          </a:p>
        </p:txBody>
      </p:sp>
      <p:pic>
        <p:nvPicPr>
          <p:cNvPr id="9" name="Объект 8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F186897-AFC1-E990-F4D0-4664D773B8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12178"/>
            <a:ext cx="3023076" cy="435133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3DD0027-2540-C7CC-DFEE-83879BA27421}"/>
              </a:ext>
            </a:extLst>
          </p:cNvPr>
          <p:cNvSpPr txBox="1"/>
          <p:nvPr/>
        </p:nvSpPr>
        <p:spPr>
          <a:xfrm>
            <a:off x="4206687" y="5244351"/>
            <a:ext cx="35076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/>
              <a:t>DATABASE SERVER     :  PostgreSQL 17</a:t>
            </a:r>
          </a:p>
          <a:p>
            <a:r>
              <a:rPr lang="de-DE" sz="1600" dirty="0"/>
              <a:t>DATABASE NAME   	 :  </a:t>
            </a:r>
            <a:r>
              <a:rPr lang="de-DE" sz="1600" dirty="0" err="1"/>
              <a:t>miniproject</a:t>
            </a:r>
            <a:r>
              <a:rPr lang="de-DE" sz="1600" dirty="0"/>
              <a:t>   </a:t>
            </a:r>
            <a:endParaRPr lang="de-CH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F2799E-7FC1-2E3F-284C-46C8B0132B3F}"/>
              </a:ext>
            </a:extLst>
          </p:cNvPr>
          <p:cNvSpPr txBox="1"/>
          <p:nvPr/>
        </p:nvSpPr>
        <p:spPr>
          <a:xfrm>
            <a:off x="4206687" y="3875010"/>
            <a:ext cx="32842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/>
              <a:t>WEB  SERVER 	:  </a:t>
            </a:r>
            <a:r>
              <a:rPr lang="de-DE" sz="1600" dirty="0" err="1"/>
              <a:t>Streamlit</a:t>
            </a:r>
            <a:endParaRPr lang="de-DE" sz="1600" dirty="0"/>
          </a:p>
          <a:p>
            <a:r>
              <a:rPr lang="de-DE" sz="1600" dirty="0"/>
              <a:t>APP SERVER   	:  </a:t>
            </a:r>
            <a:r>
              <a:rPr lang="de-DE" sz="1600" dirty="0" err="1"/>
              <a:t>Streamlit</a:t>
            </a:r>
            <a:r>
              <a:rPr lang="de-DE" sz="1600" dirty="0"/>
              <a:t>  </a:t>
            </a:r>
            <a:endParaRPr lang="ru-RU" sz="1600" dirty="0"/>
          </a:p>
          <a:p>
            <a:r>
              <a:rPr lang="de-DE" sz="1600" dirty="0"/>
              <a:t>BUISNES LOGIC          :  Python code</a:t>
            </a:r>
            <a:endParaRPr lang="de-CH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9A4DDB-064B-3D3B-4B9C-B3EE48D81974}"/>
              </a:ext>
            </a:extLst>
          </p:cNvPr>
          <p:cNvSpPr txBox="1"/>
          <p:nvPr/>
        </p:nvSpPr>
        <p:spPr>
          <a:xfrm>
            <a:off x="4206687" y="2782669"/>
            <a:ext cx="3626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 BROWSER                     : z.B. Chrome mit    </a:t>
            </a:r>
          </a:p>
          <a:p>
            <a:r>
              <a:rPr lang="de-DE" sz="1600" dirty="0"/>
              <a:t>                                               </a:t>
            </a:r>
            <a:r>
              <a:rPr lang="de-DE" sz="1600" dirty="0" err="1"/>
              <a:t>Streamlit</a:t>
            </a:r>
            <a:r>
              <a:rPr lang="de-DE" sz="1600" dirty="0"/>
              <a:t>-UI </a:t>
            </a:r>
            <a:endParaRPr lang="de-CH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33502C-818E-EFEC-E198-F7C16A30FE6C}"/>
              </a:ext>
            </a:extLst>
          </p:cNvPr>
          <p:cNvSpPr txBox="1"/>
          <p:nvPr/>
        </p:nvSpPr>
        <p:spPr>
          <a:xfrm>
            <a:off x="7996516" y="5244350"/>
            <a:ext cx="3859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create_tables-sql</a:t>
            </a:r>
            <a:r>
              <a:rPr lang="de-DE" dirty="0"/>
              <a:t>,   </a:t>
            </a:r>
            <a:r>
              <a:rPr lang="de-DE" dirty="0" err="1"/>
              <a:t>sample_data.sql</a:t>
            </a:r>
            <a:r>
              <a:rPr lang="de-DE" dirty="0"/>
              <a:t>,</a:t>
            </a:r>
          </a:p>
          <a:p>
            <a:r>
              <a:rPr lang="de-DE" dirty="0"/>
              <a:t>setup_db.py,   </a:t>
            </a:r>
            <a:r>
              <a:rPr lang="de-DE" dirty="0" err="1"/>
              <a:t>secrets.toml</a:t>
            </a:r>
            <a:r>
              <a:rPr lang="de-DE" dirty="0"/>
              <a:t>  </a:t>
            </a:r>
            <a:endParaRPr lang="de-CH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F6D9B1-7DBE-37CA-E95F-A12A80842B89}"/>
              </a:ext>
            </a:extLst>
          </p:cNvPr>
          <p:cNvSpPr txBox="1"/>
          <p:nvPr/>
        </p:nvSpPr>
        <p:spPr>
          <a:xfrm>
            <a:off x="7996516" y="4044867"/>
            <a:ext cx="33178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streamlit_app.py, </a:t>
            </a:r>
            <a:r>
              <a:rPr lang="de-DE" dirty="0" err="1"/>
              <a:t>secrets.toml</a:t>
            </a:r>
            <a:endParaRPr lang="de-DE" dirty="0"/>
          </a:p>
          <a:p>
            <a:r>
              <a:rPr lang="de-DE" dirty="0" err="1"/>
              <a:t>pandas</a:t>
            </a:r>
            <a:r>
              <a:rPr lang="de-DE" dirty="0"/>
              <a:t>, </a:t>
            </a:r>
            <a:r>
              <a:rPr lang="de-DE" dirty="0" err="1"/>
              <a:t>sqlalchemy</a:t>
            </a:r>
            <a:r>
              <a:rPr lang="de-DE" dirty="0"/>
              <a:t>, </a:t>
            </a:r>
            <a:r>
              <a:rPr lang="de-CH" dirty="0" err="1"/>
              <a:t>matplotlib</a:t>
            </a:r>
            <a:endParaRPr lang="de-CH" dirty="0"/>
          </a:p>
          <a:p>
            <a:endParaRPr lang="de-CH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18F874-04D1-042B-8C77-C96B64C2CAEA}"/>
              </a:ext>
            </a:extLst>
          </p:cNvPr>
          <p:cNvSpPr txBox="1"/>
          <p:nvPr/>
        </p:nvSpPr>
        <p:spPr>
          <a:xfrm>
            <a:off x="7996516" y="2798795"/>
            <a:ext cx="2553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HTML, CSS, JavaScript   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84572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25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3" name="Rectangle 27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093976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F759914-F120-545B-A4F6-E2C88E397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044" y="1805366"/>
            <a:ext cx="4343389" cy="432417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CH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Entitätstypen</a:t>
            </a:r>
            <a:r>
              <a:rPr lang="de-DE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Patient -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patient_id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(PK)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Medication -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medication_id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(PK)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Measurement -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measurement_id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(PK)</a:t>
            </a:r>
          </a:p>
          <a:p>
            <a:pPr marL="0" indent="0">
              <a:buNone/>
            </a:pPr>
            <a:r>
              <a:rPr lang="de-CH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ISA-abhängige </a:t>
            </a:r>
            <a:r>
              <a:rPr lang="de-DE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typen</a:t>
            </a:r>
            <a:r>
              <a:rPr lang="de-CH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CH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Temperature</a:t>
            </a:r>
            <a:r>
              <a:rPr lang="de-CH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de-CH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measurement_id</a:t>
            </a:r>
            <a:r>
              <a:rPr lang="de-CH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(PK+FK)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CH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BloodPressureSystolic</a:t>
            </a:r>
            <a:r>
              <a:rPr lang="de-CH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de-CH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measurement_id</a:t>
            </a:r>
            <a:r>
              <a:rPr lang="de-CH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(PK+FK)</a:t>
            </a:r>
            <a:endParaRPr lang="de-CH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e-CH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BloodPressureDiastolic</a:t>
            </a:r>
            <a:r>
              <a:rPr lang="de-CH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de-CH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measurement_id</a:t>
            </a:r>
            <a:r>
              <a:rPr lang="de-CH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(PK+FK)</a:t>
            </a:r>
            <a:endParaRPr lang="de-CH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e-CH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Glucose  - </a:t>
            </a:r>
            <a:r>
              <a:rPr lang="de-CH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measurement_id</a:t>
            </a:r>
            <a:r>
              <a:rPr lang="de-CH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(PK+FK)</a:t>
            </a:r>
          </a:p>
          <a:p>
            <a:pPr marL="0" indent="0">
              <a:buNone/>
            </a:pPr>
            <a:r>
              <a:rPr lang="de-CH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Beziehungstypen:</a:t>
            </a:r>
            <a:endParaRPr lang="de-CH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de-CH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MedicationIntake</a:t>
            </a:r>
            <a:r>
              <a:rPr lang="de-CH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de-CH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intake_id</a:t>
            </a:r>
            <a:r>
              <a:rPr lang="de-CH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(PK), </a:t>
            </a:r>
            <a:r>
              <a:rPr lang="de-CH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patient_id</a:t>
            </a:r>
            <a:r>
              <a:rPr lang="de-CH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(FK), </a:t>
            </a:r>
            <a:r>
              <a:rPr lang="de-CH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medication_id</a:t>
            </a:r>
            <a:r>
              <a:rPr lang="de-CH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(FK)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de-CH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Measured</a:t>
            </a:r>
            <a:r>
              <a:rPr lang="de-CH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de-CH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measured_id</a:t>
            </a:r>
            <a:r>
              <a:rPr lang="de-CH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(PK), </a:t>
            </a:r>
            <a:r>
              <a:rPr lang="de-CH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patient_id</a:t>
            </a:r>
            <a:r>
              <a:rPr lang="de-CH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(FK),</a:t>
            </a:r>
            <a:r>
              <a:rPr lang="de-CH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measurement_id</a:t>
            </a:r>
            <a:r>
              <a:rPr lang="de-CH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(FK)</a:t>
            </a:r>
            <a:br>
              <a:rPr lang="de-CH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de-CH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87C4C622-604B-1598-5C3F-7059D3416B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8" r="8537"/>
          <a:stretch>
            <a:fillRect/>
          </a:stretch>
        </p:blipFill>
        <p:spPr bwMode="auto">
          <a:xfrm>
            <a:off x="103052" y="1526400"/>
            <a:ext cx="7160416" cy="4662557"/>
          </a:xfrm>
          <a:prstGeom prst="rect">
            <a:avLst/>
          </a:prstGeom>
          <a:noFill/>
        </p:spPr>
      </p:pic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70F8F57A-A781-65E0-D7B5-030C4F7B8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00" y="479803"/>
            <a:ext cx="10069800" cy="1325563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de-DE" dirty="0"/>
              <a:t>ER - Diagramm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558203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4820FB-EE87-C55B-9AA2-E5BA86DA2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98599" cy="1325563"/>
          </a:xfrm>
        </p:spPr>
        <p:txBody>
          <a:bodyPr>
            <a:normAutofit/>
          </a:bodyPr>
          <a:lstStyle/>
          <a:p>
            <a:r>
              <a:rPr lang="de-DE" dirty="0"/>
              <a:t>Erstellung von SQL-Tabellen aus ER-Diagramm</a:t>
            </a:r>
            <a:endParaRPr lang="de-CH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8B7E9F-D9AB-3F84-C47E-F98324C38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6294" y="2138400"/>
            <a:ext cx="6275706" cy="4038563"/>
          </a:xfrm>
        </p:spPr>
        <p:txBody>
          <a:bodyPr>
            <a:normAutofit/>
          </a:bodyPr>
          <a:lstStyle/>
          <a:p>
            <a:pPr>
              <a:buNone/>
            </a:pPr>
            <a:b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CH" sz="1400" dirty="0">
                <a:solidFill>
                  <a:srgbClr val="CF8E6D"/>
                </a:solidFill>
                <a:effectLst/>
                <a:latin typeface="JetBrains Mono"/>
              </a:rPr>
              <a:t>CREATE TABLE </a:t>
            </a:r>
            <a:r>
              <a:rPr lang="de-CH" sz="1400" dirty="0">
                <a:solidFill>
                  <a:schemeClr val="bg2">
                    <a:lumMod val="50000"/>
                  </a:schemeClr>
                </a:solidFill>
                <a:effectLst/>
                <a:latin typeface="JetBrains Mono"/>
              </a:rPr>
              <a:t>Measurement (</a:t>
            </a:r>
            <a:b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de-CH" sz="1400" dirty="0" err="1">
                <a:solidFill>
                  <a:schemeClr val="bg2">
                    <a:lumMod val="50000"/>
                  </a:schemeClr>
                </a:solidFill>
                <a:latin typeface="JetBrains Mono"/>
              </a:rPr>
              <a:t>measurement_id</a:t>
            </a:r>
            <a:r>
              <a:rPr lang="de-CH" sz="1400" dirty="0">
                <a:solidFill>
                  <a:schemeClr val="bg2">
                    <a:lumMod val="50000"/>
                  </a:schemeClr>
                </a:solidFill>
                <a:latin typeface="JetBrains Mono"/>
              </a:rPr>
              <a:t> SERIAL </a:t>
            </a:r>
            <a:r>
              <a:rPr lang="de-CH" sz="1400" dirty="0">
                <a:solidFill>
                  <a:srgbClr val="CF8E6D"/>
                </a:solidFill>
                <a:effectLst/>
                <a:latin typeface="JetBrains Mono"/>
              </a:rPr>
              <a:t>PRIMARY KEY</a:t>
            </a:r>
            <a: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  <a:t>,</a:t>
            </a:r>
            <a:b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de-CH" sz="1400" dirty="0" err="1">
                <a:solidFill>
                  <a:schemeClr val="bg2">
                    <a:lumMod val="50000"/>
                  </a:schemeClr>
                </a:solidFill>
                <a:latin typeface="JetBrains Mono"/>
              </a:rPr>
              <a:t>measurement_type</a:t>
            </a:r>
            <a:r>
              <a:rPr lang="de-CH" sz="1400" dirty="0">
                <a:solidFill>
                  <a:schemeClr val="bg2">
                    <a:lumMod val="50000"/>
                  </a:schemeClr>
                </a:solidFill>
                <a:latin typeface="JetBrains Mono"/>
              </a:rPr>
              <a:t> TEXT </a:t>
            </a:r>
            <a:r>
              <a:rPr lang="de-CH" sz="1400" dirty="0">
                <a:solidFill>
                  <a:srgbClr val="CF8E6D"/>
                </a:solidFill>
                <a:effectLst/>
                <a:latin typeface="JetBrains Mono"/>
              </a:rPr>
              <a:t>NOT NULL CHECK</a:t>
            </a:r>
            <a:r>
              <a:rPr lang="de-CH" sz="1400" dirty="0">
                <a:solidFill>
                  <a:schemeClr val="bg2">
                    <a:lumMod val="50000"/>
                  </a:schemeClr>
                </a:solidFill>
                <a:latin typeface="JetBrains Mono"/>
              </a:rPr>
              <a:t>(</a:t>
            </a:r>
            <a:r>
              <a:rPr lang="de-CH" sz="1400" dirty="0" err="1">
                <a:solidFill>
                  <a:schemeClr val="bg2">
                    <a:lumMod val="50000"/>
                  </a:schemeClr>
                </a:solidFill>
                <a:latin typeface="JetBrains Mono"/>
              </a:rPr>
              <a:t>measurement_type</a:t>
            </a:r>
            <a:r>
              <a:rPr lang="de-CH" sz="1400" dirty="0">
                <a:solidFill>
                  <a:schemeClr val="bg2">
                    <a:lumMod val="50000"/>
                  </a:schemeClr>
                </a:solidFill>
                <a:latin typeface="JetBrains Mono"/>
              </a:rPr>
              <a:t> </a:t>
            </a:r>
            <a:r>
              <a:rPr lang="de-CH" sz="1400" dirty="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de-CH" sz="1400" dirty="0">
                <a:solidFill>
                  <a:schemeClr val="bg2">
                    <a:lumMod val="50000"/>
                  </a:schemeClr>
                </a:solidFill>
                <a:latin typeface="JetBrains Mono"/>
              </a:rPr>
              <a:t>(</a:t>
            </a:r>
            <a:b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de-CH" sz="14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de-CH" sz="1400" dirty="0" err="1">
                <a:solidFill>
                  <a:srgbClr val="6AAB73"/>
                </a:solidFill>
                <a:effectLst/>
                <a:latin typeface="JetBrains Mono"/>
              </a:rPr>
              <a:t>Temperature</a:t>
            </a:r>
            <a:r>
              <a:rPr lang="de-CH" sz="14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de-CH" sz="14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de-CH" sz="1400" dirty="0" err="1">
                <a:solidFill>
                  <a:srgbClr val="6AAB73"/>
                </a:solidFill>
                <a:effectLst/>
                <a:latin typeface="JetBrains Mono"/>
              </a:rPr>
              <a:t>BloodPressureSystolic</a:t>
            </a:r>
            <a:r>
              <a:rPr lang="de-CH" sz="1400" dirty="0">
                <a:solidFill>
                  <a:srgbClr val="6AAB73"/>
                </a:solidFill>
                <a:effectLst/>
                <a:latin typeface="JetBrains Mono"/>
              </a:rPr>
              <a:t>’</a:t>
            </a:r>
            <a: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de-CH" sz="14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de-CH" sz="1400" dirty="0" err="1">
                <a:solidFill>
                  <a:srgbClr val="6AAB73"/>
                </a:solidFill>
                <a:effectLst/>
                <a:latin typeface="JetBrains Mono"/>
              </a:rPr>
              <a:t>BloodPressureDiastolic</a:t>
            </a:r>
            <a:r>
              <a:rPr lang="de-CH" sz="14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de-CH" sz="1400" dirty="0">
                <a:solidFill>
                  <a:srgbClr val="6AAB73"/>
                </a:solidFill>
                <a:effectLst/>
                <a:latin typeface="JetBrains Mono"/>
              </a:rPr>
              <a:t>'Glucose'</a:t>
            </a:r>
            <a:br>
              <a:rPr lang="de-CH" sz="14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de-CH" sz="1400" dirty="0">
                <a:solidFill>
                  <a:schemeClr val="bg2">
                    <a:lumMod val="50000"/>
                  </a:schemeClr>
                </a:solidFill>
                <a:latin typeface="JetBrains Mono"/>
              </a:rPr>
              <a:t>    )),</a:t>
            </a:r>
            <a:b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de-CH" sz="1400" dirty="0" err="1">
                <a:solidFill>
                  <a:schemeClr val="bg2">
                    <a:lumMod val="50000"/>
                  </a:schemeClr>
                </a:solidFill>
                <a:latin typeface="JetBrains Mono"/>
              </a:rPr>
              <a:t>created_at</a:t>
            </a:r>
            <a:r>
              <a:rPr lang="de-CH" sz="1400" dirty="0">
                <a:solidFill>
                  <a:schemeClr val="bg2">
                    <a:lumMod val="50000"/>
                  </a:schemeClr>
                </a:solidFill>
                <a:latin typeface="JetBrains Mono"/>
              </a:rPr>
              <a:t> </a:t>
            </a:r>
            <a:r>
              <a:rPr lang="de-CH" sz="1400" dirty="0">
                <a:solidFill>
                  <a:srgbClr val="CF8E6D"/>
                </a:solidFill>
                <a:effectLst/>
                <a:latin typeface="JetBrains Mono"/>
              </a:rPr>
              <a:t>TIMESTAMP DEFAULT CURRENT_TIMESTAMP</a:t>
            </a:r>
            <a:br>
              <a:rPr lang="de-CH" sz="1400" dirty="0">
                <a:solidFill>
                  <a:srgbClr val="CF8E6D"/>
                </a:solidFill>
                <a:effectLst/>
                <a:latin typeface="JetBrains Mono"/>
              </a:rPr>
            </a:br>
            <a:r>
              <a:rPr lang="de-CH" sz="1400" dirty="0">
                <a:solidFill>
                  <a:schemeClr val="bg2">
                    <a:lumMod val="50000"/>
                  </a:schemeClr>
                </a:solidFill>
                <a:latin typeface="JetBrains Mono"/>
              </a:rPr>
              <a:t>);</a:t>
            </a:r>
          </a:p>
          <a:p>
            <a:pPr>
              <a:buNone/>
            </a:pPr>
            <a:endParaRPr lang="de-CH" sz="1400" dirty="0">
              <a:solidFill>
                <a:schemeClr val="bg2">
                  <a:lumMod val="50000"/>
                </a:schemeClr>
              </a:solidFill>
              <a:latin typeface="JetBrains Mono"/>
            </a:endParaRPr>
          </a:p>
          <a:p>
            <a:pPr marL="539750">
              <a:buNone/>
            </a:pPr>
            <a:r>
              <a:rPr lang="de-CH" sz="1400" dirty="0">
                <a:solidFill>
                  <a:srgbClr val="CF8E6D"/>
                </a:solidFill>
                <a:effectLst/>
                <a:latin typeface="JetBrains Mono"/>
              </a:rPr>
              <a:t>CREATE TABLE </a:t>
            </a:r>
            <a:r>
              <a:rPr lang="de-CH" sz="1400" dirty="0" err="1">
                <a:solidFill>
                  <a:schemeClr val="bg2">
                    <a:lumMod val="50000"/>
                  </a:schemeClr>
                </a:solidFill>
                <a:latin typeface="JetBrains Mono"/>
              </a:rPr>
              <a:t>BloodPressureSystolic</a:t>
            </a:r>
            <a:r>
              <a:rPr lang="de-CH" sz="1400" dirty="0">
                <a:solidFill>
                  <a:schemeClr val="bg2">
                    <a:lumMod val="50000"/>
                  </a:schemeClr>
                </a:solidFill>
                <a:latin typeface="JetBrains Mono"/>
              </a:rPr>
              <a:t> (</a:t>
            </a:r>
            <a:b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de-CH" sz="1400" dirty="0" err="1">
                <a:solidFill>
                  <a:schemeClr val="bg2">
                    <a:lumMod val="50000"/>
                  </a:schemeClr>
                </a:solidFill>
                <a:latin typeface="JetBrains Mono"/>
              </a:rPr>
              <a:t>measurement_id</a:t>
            </a:r>
            <a: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de-CH" sz="1400" dirty="0">
                <a:solidFill>
                  <a:srgbClr val="CF8E6D"/>
                </a:solidFill>
                <a:effectLst/>
                <a:latin typeface="JetBrains Mono"/>
              </a:rPr>
              <a:t>INTEGER PRIMARY KEY</a:t>
            </a:r>
            <a:r>
              <a:rPr lang="de-CH" sz="1400" dirty="0">
                <a:solidFill>
                  <a:schemeClr val="bg2">
                    <a:lumMod val="50000"/>
                  </a:schemeClr>
                </a:solidFill>
                <a:latin typeface="JetBrains Mono"/>
              </a:rPr>
              <a:t>,</a:t>
            </a:r>
            <a:b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de-CH" sz="1400" dirty="0" err="1">
                <a:solidFill>
                  <a:srgbClr val="CF8E6D"/>
                </a:solidFill>
                <a:effectLst/>
                <a:latin typeface="JetBrains Mono"/>
              </a:rPr>
              <a:t>value</a:t>
            </a:r>
            <a:r>
              <a:rPr lang="de-CH" sz="1400" dirty="0">
                <a:solidFill>
                  <a:srgbClr val="CF8E6D"/>
                </a:solidFill>
                <a:effectLst/>
                <a:latin typeface="JetBrains Mono"/>
              </a:rPr>
              <a:t> INTEGER NOT NULL</a:t>
            </a:r>
            <a:r>
              <a:rPr lang="de-CH" sz="1400" dirty="0">
                <a:solidFill>
                  <a:schemeClr val="bg2">
                    <a:lumMod val="50000"/>
                  </a:schemeClr>
                </a:solidFill>
                <a:latin typeface="JetBrains Mono"/>
              </a:rPr>
              <a:t>,</a:t>
            </a:r>
            <a:b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de-CH" sz="1400" dirty="0" err="1">
                <a:solidFill>
                  <a:schemeClr val="bg2">
                    <a:lumMod val="50000"/>
                  </a:schemeClr>
                </a:solidFill>
                <a:latin typeface="JetBrains Mono"/>
              </a:rPr>
              <a:t>einheit</a:t>
            </a:r>
            <a:r>
              <a:rPr lang="de-CH" sz="1400" dirty="0">
                <a:solidFill>
                  <a:schemeClr val="bg2">
                    <a:lumMod val="50000"/>
                  </a:schemeClr>
                </a:solidFill>
                <a:latin typeface="JetBrains Mono"/>
              </a:rPr>
              <a:t> TEXT </a:t>
            </a:r>
            <a:r>
              <a:rPr lang="de-CH" sz="1400" dirty="0">
                <a:solidFill>
                  <a:srgbClr val="CF8E6D"/>
                </a:solidFill>
                <a:effectLst/>
                <a:latin typeface="JetBrains Mono"/>
              </a:rPr>
              <a:t>NOT NULL DEFAULT </a:t>
            </a:r>
            <a:r>
              <a:rPr lang="de-CH" sz="14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de-CH" sz="1400" dirty="0" err="1">
                <a:solidFill>
                  <a:srgbClr val="6AAB73"/>
                </a:solidFill>
                <a:effectLst/>
                <a:latin typeface="JetBrains Mono"/>
              </a:rPr>
              <a:t>mmHg</a:t>
            </a:r>
            <a:r>
              <a:rPr lang="de-CH" sz="14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de-CH" sz="1400" dirty="0">
                <a:solidFill>
                  <a:schemeClr val="bg2">
                    <a:lumMod val="50000"/>
                  </a:schemeClr>
                </a:solidFill>
                <a:latin typeface="JetBrains Mono"/>
              </a:rPr>
              <a:t>,</a:t>
            </a:r>
            <a:b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de-CH" sz="1400" dirty="0" err="1">
                <a:solidFill>
                  <a:srgbClr val="CF8E6D"/>
                </a:solidFill>
                <a:effectLst/>
                <a:latin typeface="JetBrains Mono"/>
              </a:rPr>
              <a:t>position</a:t>
            </a:r>
            <a:r>
              <a:rPr lang="de-CH" sz="14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de-CH" sz="1400" dirty="0">
                <a:solidFill>
                  <a:schemeClr val="bg2">
                    <a:lumMod val="50000"/>
                  </a:schemeClr>
                </a:solidFill>
                <a:latin typeface="JetBrains Mono"/>
              </a:rPr>
              <a:t>TEXT</a:t>
            </a:r>
            <a: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de-CH" sz="1400" dirty="0">
                <a:solidFill>
                  <a:srgbClr val="CF8E6D"/>
                </a:solidFill>
                <a:effectLst/>
                <a:latin typeface="JetBrains Mono"/>
              </a:rPr>
              <a:t>CHECK</a:t>
            </a:r>
            <a:r>
              <a:rPr lang="de-CH" sz="1400" dirty="0">
                <a:solidFill>
                  <a:schemeClr val="bg2">
                    <a:lumMod val="50000"/>
                  </a:schemeClr>
                </a:solidFill>
                <a:latin typeface="JetBrains Mono"/>
              </a:rPr>
              <a:t>(</a:t>
            </a:r>
            <a:r>
              <a:rPr lang="de-CH" sz="1400" dirty="0" err="1">
                <a:solidFill>
                  <a:srgbClr val="CF8E6D"/>
                </a:solidFill>
                <a:effectLst/>
                <a:latin typeface="JetBrains Mono"/>
              </a:rPr>
              <a:t>position</a:t>
            </a:r>
            <a:r>
              <a:rPr lang="de-CH" sz="1400" dirty="0">
                <a:solidFill>
                  <a:srgbClr val="CF8E6D"/>
                </a:solidFill>
                <a:effectLst/>
                <a:latin typeface="JetBrains Mono"/>
              </a:rPr>
              <a:t> IN </a:t>
            </a:r>
            <a: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de-CH" sz="14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de-CH" sz="1400" dirty="0" err="1">
                <a:solidFill>
                  <a:srgbClr val="6AAB73"/>
                </a:solidFill>
                <a:effectLst/>
                <a:latin typeface="JetBrains Mono"/>
              </a:rPr>
              <a:t>sitting</a:t>
            </a:r>
            <a:r>
              <a:rPr lang="de-CH" sz="14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de-CH" sz="14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de-CH" sz="1400" dirty="0" err="1">
                <a:solidFill>
                  <a:srgbClr val="6AAB73"/>
                </a:solidFill>
                <a:effectLst/>
                <a:latin typeface="JetBrains Mono"/>
              </a:rPr>
              <a:t>standing</a:t>
            </a:r>
            <a:r>
              <a:rPr lang="de-CH" sz="14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de-CH" sz="14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de-CH" sz="1400" dirty="0" err="1">
                <a:solidFill>
                  <a:srgbClr val="6AAB73"/>
                </a:solidFill>
                <a:effectLst/>
                <a:latin typeface="JetBrains Mono"/>
              </a:rPr>
              <a:t>supine</a:t>
            </a:r>
            <a:r>
              <a:rPr lang="de-CH" sz="14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de-CH" sz="1400" dirty="0">
                <a:solidFill>
                  <a:schemeClr val="bg2">
                    <a:lumMod val="50000"/>
                  </a:schemeClr>
                </a:solidFill>
                <a:latin typeface="JetBrains Mono"/>
              </a:rPr>
              <a:t>)),</a:t>
            </a:r>
            <a:b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de-CH" sz="1400" dirty="0" err="1">
                <a:solidFill>
                  <a:schemeClr val="bg2">
                    <a:lumMod val="50000"/>
                  </a:schemeClr>
                </a:solidFill>
                <a:latin typeface="JetBrains Mono"/>
              </a:rPr>
              <a:t>created</a:t>
            </a:r>
            <a:r>
              <a:rPr lang="de-CH" sz="1400" dirty="0" err="1">
                <a:solidFill>
                  <a:srgbClr val="BCBEC4"/>
                </a:solidFill>
                <a:effectLst/>
                <a:latin typeface="JetBrains Mono"/>
              </a:rPr>
              <a:t>_</a:t>
            </a:r>
            <a:r>
              <a:rPr lang="de-CH" sz="1400" dirty="0" err="1">
                <a:solidFill>
                  <a:schemeClr val="bg2">
                    <a:lumMod val="50000"/>
                  </a:schemeClr>
                </a:solidFill>
                <a:latin typeface="JetBrains Mono"/>
              </a:rPr>
              <a:t>at</a:t>
            </a:r>
            <a: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de-CH" sz="1400" dirty="0">
                <a:solidFill>
                  <a:srgbClr val="CF8E6D"/>
                </a:solidFill>
                <a:effectLst/>
                <a:latin typeface="JetBrains Mono"/>
              </a:rPr>
              <a:t>TIMESTAMP DEFAULT CURRENT_TIMESTAMP</a:t>
            </a:r>
            <a:r>
              <a:rPr lang="de-CH" sz="1400" dirty="0">
                <a:solidFill>
                  <a:schemeClr val="bg2">
                    <a:lumMod val="50000"/>
                  </a:schemeClr>
                </a:solidFill>
                <a:latin typeface="JetBrains Mono"/>
              </a:rPr>
              <a:t>,</a:t>
            </a:r>
            <a:b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CH" sz="14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de-CH" sz="1400" dirty="0">
                <a:solidFill>
                  <a:srgbClr val="CF8E6D"/>
                </a:solidFill>
                <a:effectLst/>
                <a:latin typeface="JetBrains Mono"/>
              </a:rPr>
              <a:t>FOREIGN KEY </a:t>
            </a:r>
            <a:r>
              <a:rPr lang="de-CH" sz="1400" dirty="0">
                <a:solidFill>
                  <a:schemeClr val="bg2">
                    <a:lumMod val="50000"/>
                  </a:schemeClr>
                </a:solidFill>
                <a:latin typeface="JetBrains Mono"/>
              </a:rPr>
              <a:t>(</a:t>
            </a:r>
            <a:r>
              <a:rPr lang="de-CH" sz="1400" dirty="0" err="1">
                <a:solidFill>
                  <a:schemeClr val="bg2">
                    <a:lumMod val="50000"/>
                  </a:schemeClr>
                </a:solidFill>
                <a:latin typeface="JetBrains Mono"/>
              </a:rPr>
              <a:t>measurement_id</a:t>
            </a:r>
            <a:r>
              <a:rPr lang="de-CH" sz="1400" dirty="0">
                <a:solidFill>
                  <a:schemeClr val="bg2">
                    <a:lumMod val="50000"/>
                  </a:schemeClr>
                </a:solidFill>
                <a:latin typeface="JetBrains Mono"/>
              </a:rPr>
              <a:t>) </a:t>
            </a:r>
            <a:r>
              <a:rPr lang="de-CH" sz="1400" dirty="0">
                <a:solidFill>
                  <a:srgbClr val="CF8E6D"/>
                </a:solidFill>
                <a:effectLst/>
                <a:latin typeface="JetBrains Mono"/>
              </a:rPr>
              <a:t>REFERENCES </a:t>
            </a:r>
            <a:r>
              <a:rPr lang="de-CH" sz="1400" dirty="0">
                <a:solidFill>
                  <a:schemeClr val="bg2">
                    <a:lumMod val="50000"/>
                  </a:schemeClr>
                </a:solidFill>
                <a:latin typeface="JetBrains Mono"/>
              </a:rPr>
              <a:t>Measurement(</a:t>
            </a:r>
            <a:r>
              <a:rPr lang="de-CH" sz="1400" dirty="0" err="1">
                <a:solidFill>
                  <a:schemeClr val="bg2">
                    <a:lumMod val="50000"/>
                  </a:schemeClr>
                </a:solidFill>
                <a:latin typeface="JetBrains Mono"/>
              </a:rPr>
              <a:t>measurement_id</a:t>
            </a:r>
            <a:r>
              <a:rPr lang="de-CH" sz="1400" dirty="0">
                <a:solidFill>
                  <a:schemeClr val="bg2">
                    <a:lumMod val="50000"/>
                  </a:schemeClr>
                </a:solidFill>
                <a:latin typeface="JetBrains Mono"/>
              </a:rPr>
              <a:t>)</a:t>
            </a:r>
          </a:p>
          <a:p>
            <a:pPr marL="539750">
              <a:buNone/>
            </a:pPr>
            <a:r>
              <a:rPr lang="de-CH" sz="1400" dirty="0">
                <a:solidFill>
                  <a:schemeClr val="bg2">
                    <a:lumMod val="50000"/>
                  </a:schemeClr>
                </a:solidFill>
                <a:latin typeface="JetBrains Mono"/>
              </a:rPr>
              <a:t>);</a:t>
            </a:r>
          </a:p>
          <a:p>
            <a:pPr>
              <a:buNone/>
            </a:pPr>
            <a:endParaRPr lang="de-CH" sz="1400" dirty="0">
              <a:solidFill>
                <a:schemeClr val="bg2">
                  <a:lumMod val="50000"/>
                </a:schemeClr>
              </a:solidFill>
              <a:latin typeface="JetBrains Mono"/>
            </a:endParaRPr>
          </a:p>
          <a:p>
            <a:endParaRPr lang="de-CH" sz="140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A7CF087-3DD2-806E-0C8E-14A18421C08F}"/>
              </a:ext>
            </a:extLst>
          </p:cNvPr>
          <p:cNvSpPr/>
          <p:nvPr/>
        </p:nvSpPr>
        <p:spPr>
          <a:xfrm>
            <a:off x="1219218" y="3130927"/>
            <a:ext cx="2127849" cy="596145"/>
          </a:xfrm>
          <a:prstGeom prst="rect">
            <a:avLst/>
          </a:prstGeom>
          <a:ln w="6032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Measurement</a:t>
            </a:r>
            <a:endParaRPr lang="de-CH" dirty="0"/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951507DC-926D-4E47-2587-B5751C966541}"/>
              </a:ext>
            </a:extLst>
          </p:cNvPr>
          <p:cNvCxnSpPr>
            <a:cxnSpLocks/>
          </p:cNvCxnSpPr>
          <p:nvPr/>
        </p:nvCxnSpPr>
        <p:spPr>
          <a:xfrm>
            <a:off x="2525500" y="2859442"/>
            <a:ext cx="0" cy="271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Овал 5">
            <a:extLst>
              <a:ext uri="{FF2B5EF4-FFF2-40B4-BE49-F238E27FC236}">
                <a16:creationId xmlns:a16="http://schemas.microsoft.com/office/drawing/2014/main" id="{D5714B09-48DE-FEE7-6C3F-2AB4C01AB3EF}"/>
              </a:ext>
            </a:extLst>
          </p:cNvPr>
          <p:cNvSpPr/>
          <p:nvPr/>
        </p:nvSpPr>
        <p:spPr>
          <a:xfrm>
            <a:off x="395504" y="2659111"/>
            <a:ext cx="1369129" cy="27148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CH" sz="800" u="sng" dirty="0" err="1"/>
              <a:t>measurement_id</a:t>
            </a:r>
            <a:endParaRPr lang="de-CH" sz="800" u="sng" dirty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8C6B22C1-40EF-8080-F8DD-866169933260}"/>
              </a:ext>
            </a:extLst>
          </p:cNvPr>
          <p:cNvCxnSpPr>
            <a:cxnSpLocks/>
          </p:cNvCxnSpPr>
          <p:nvPr/>
        </p:nvCxnSpPr>
        <p:spPr>
          <a:xfrm flipV="1">
            <a:off x="2341470" y="4639083"/>
            <a:ext cx="0" cy="2999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A960047B-6FA9-335B-A31D-C13747AFA35E}"/>
              </a:ext>
            </a:extLst>
          </p:cNvPr>
          <p:cNvCxnSpPr>
            <a:cxnSpLocks/>
          </p:cNvCxnSpPr>
          <p:nvPr/>
        </p:nvCxnSpPr>
        <p:spPr>
          <a:xfrm flipH="1" flipV="1">
            <a:off x="3819020" y="4605546"/>
            <a:ext cx="103192" cy="3765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5421DCF4-497D-E068-4945-58E3C78C915C}"/>
              </a:ext>
            </a:extLst>
          </p:cNvPr>
          <p:cNvCxnSpPr>
            <a:cxnSpLocks/>
          </p:cNvCxnSpPr>
          <p:nvPr/>
        </p:nvCxnSpPr>
        <p:spPr>
          <a:xfrm flipV="1">
            <a:off x="772017" y="4656336"/>
            <a:ext cx="60396" cy="3257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C0ECE83-856D-FB4E-B676-61C23E4C7D3F}"/>
              </a:ext>
            </a:extLst>
          </p:cNvPr>
          <p:cNvCxnSpPr>
            <a:cxnSpLocks/>
          </p:cNvCxnSpPr>
          <p:nvPr/>
        </p:nvCxnSpPr>
        <p:spPr>
          <a:xfrm>
            <a:off x="5313710" y="4645019"/>
            <a:ext cx="3839" cy="3198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424CCCDF-3D08-49E3-65FC-FA9654B13375}"/>
              </a:ext>
            </a:extLst>
          </p:cNvPr>
          <p:cNvCxnSpPr>
            <a:cxnSpLocks/>
            <a:stCxn id="6" idx="4"/>
            <a:endCxn id="4" idx="1"/>
          </p:cNvCxnSpPr>
          <p:nvPr/>
        </p:nvCxnSpPr>
        <p:spPr>
          <a:xfrm>
            <a:off x="1080069" y="2930596"/>
            <a:ext cx="139149" cy="4984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D3368F2-D416-68AA-FE45-336D720ACCB4}"/>
              </a:ext>
            </a:extLst>
          </p:cNvPr>
          <p:cNvSpPr/>
          <p:nvPr/>
        </p:nvSpPr>
        <p:spPr>
          <a:xfrm>
            <a:off x="4640065" y="4148950"/>
            <a:ext cx="1186296" cy="49821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 dirty="0" err="1"/>
              <a:t>Temperature</a:t>
            </a:r>
            <a:endParaRPr lang="de-CH" sz="120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493126E-9981-79A5-9B13-409C71057C1A}"/>
              </a:ext>
            </a:extLst>
          </p:cNvPr>
          <p:cNvSpPr/>
          <p:nvPr/>
        </p:nvSpPr>
        <p:spPr>
          <a:xfrm>
            <a:off x="277811" y="4140866"/>
            <a:ext cx="1166714" cy="49821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 dirty="0"/>
              <a:t>Glucose</a:t>
            </a:r>
            <a:endParaRPr lang="de-CH" sz="120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74B90B0-0054-F42C-2187-69C211E5EF01}"/>
              </a:ext>
            </a:extLst>
          </p:cNvPr>
          <p:cNvSpPr/>
          <p:nvPr/>
        </p:nvSpPr>
        <p:spPr>
          <a:xfrm>
            <a:off x="3257051" y="4148950"/>
            <a:ext cx="1218474" cy="4901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 dirty="0"/>
              <a:t>Blood </a:t>
            </a:r>
            <a:r>
              <a:rPr lang="de-DE" sz="1200" dirty="0" err="1"/>
              <a:t>Pressure</a:t>
            </a:r>
            <a:r>
              <a:rPr lang="de-DE" sz="1200" dirty="0"/>
              <a:t> </a:t>
            </a:r>
            <a:r>
              <a:rPr lang="de-DE" sz="1200" dirty="0" err="1"/>
              <a:t>Diastolic</a:t>
            </a:r>
            <a:endParaRPr lang="de-CH" sz="120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68076F3-6EF5-747F-D66E-7971EE48D26B}"/>
              </a:ext>
            </a:extLst>
          </p:cNvPr>
          <p:cNvSpPr/>
          <p:nvPr/>
        </p:nvSpPr>
        <p:spPr>
          <a:xfrm>
            <a:off x="1667006" y="4140866"/>
            <a:ext cx="1365508" cy="498218"/>
          </a:xfrm>
          <a:prstGeom prst="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 dirty="0"/>
              <a:t>Blood </a:t>
            </a:r>
            <a:r>
              <a:rPr lang="de-DE" sz="1200" dirty="0" err="1"/>
              <a:t>Pressure</a:t>
            </a:r>
            <a:r>
              <a:rPr lang="de-DE" sz="1200" dirty="0"/>
              <a:t> </a:t>
            </a:r>
            <a:r>
              <a:rPr lang="de-DE" sz="1200" dirty="0" err="1"/>
              <a:t>Systolic</a:t>
            </a:r>
            <a:endParaRPr lang="de-CH" sz="1200" dirty="0"/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D6362EDB-B642-EF01-8590-9A1FAE6C24D2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2341470" y="3755499"/>
            <a:ext cx="8290" cy="3853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6CB8A122-56B0-92D2-CB21-C68F2F474681}"/>
              </a:ext>
            </a:extLst>
          </p:cNvPr>
          <p:cNvCxnSpPr>
            <a:endCxn id="13" idx="0"/>
          </p:cNvCxnSpPr>
          <p:nvPr/>
        </p:nvCxnSpPr>
        <p:spPr>
          <a:xfrm flipH="1">
            <a:off x="861168" y="3734201"/>
            <a:ext cx="358050" cy="4066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127E52CB-16E1-D87B-D6F8-A6A5E526CDA7}"/>
              </a:ext>
            </a:extLst>
          </p:cNvPr>
          <p:cNvCxnSpPr/>
          <p:nvPr/>
        </p:nvCxnSpPr>
        <p:spPr>
          <a:xfrm>
            <a:off x="2900242" y="3734201"/>
            <a:ext cx="684362" cy="4066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9A6D5BE5-164A-0D1B-DC17-E512B8F643C2}"/>
              </a:ext>
            </a:extLst>
          </p:cNvPr>
          <p:cNvCxnSpPr>
            <a:cxnSpLocks/>
          </p:cNvCxnSpPr>
          <p:nvPr/>
        </p:nvCxnSpPr>
        <p:spPr>
          <a:xfrm>
            <a:off x="3371578" y="3483658"/>
            <a:ext cx="1507548" cy="6176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C8163CB-351A-9124-E6BB-0DF2CA7FE752}"/>
              </a:ext>
            </a:extLst>
          </p:cNvPr>
          <p:cNvSpPr txBox="1"/>
          <p:nvPr/>
        </p:nvSpPr>
        <p:spPr>
          <a:xfrm>
            <a:off x="2554255" y="2774788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n</a:t>
            </a:r>
            <a:endParaRPr lang="de-CH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9E5FCC-A61F-4ABC-DB59-1782CF61DDD2}"/>
              </a:ext>
            </a:extLst>
          </p:cNvPr>
          <p:cNvSpPr txBox="1"/>
          <p:nvPr/>
        </p:nvSpPr>
        <p:spPr>
          <a:xfrm>
            <a:off x="4817456" y="3821529"/>
            <a:ext cx="4025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ISA</a:t>
            </a:r>
            <a:endParaRPr lang="de-CH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77DC58-CE28-95DA-942A-F76B1EB92CA1}"/>
              </a:ext>
            </a:extLst>
          </p:cNvPr>
          <p:cNvSpPr txBox="1"/>
          <p:nvPr/>
        </p:nvSpPr>
        <p:spPr>
          <a:xfrm>
            <a:off x="3368605" y="3830707"/>
            <a:ext cx="4025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ISA</a:t>
            </a:r>
            <a:endParaRPr lang="de-CH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D5BA14-2BC4-9C81-067F-A26F6E3173AB}"/>
              </a:ext>
            </a:extLst>
          </p:cNvPr>
          <p:cNvSpPr txBox="1"/>
          <p:nvPr/>
        </p:nvSpPr>
        <p:spPr>
          <a:xfrm>
            <a:off x="2329428" y="3821529"/>
            <a:ext cx="4025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ISA</a:t>
            </a:r>
            <a:endParaRPr lang="de-CH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D7604C-F9B2-F5C0-D0A7-E710D863A79B}"/>
              </a:ext>
            </a:extLst>
          </p:cNvPr>
          <p:cNvSpPr txBox="1"/>
          <p:nvPr/>
        </p:nvSpPr>
        <p:spPr>
          <a:xfrm>
            <a:off x="1018443" y="3815544"/>
            <a:ext cx="4025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ISA</a:t>
            </a:r>
            <a:endParaRPr lang="de-CH" sz="1200" dirty="0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455A5BBF-ACDC-1881-3D14-4E2E2F349469}"/>
              </a:ext>
            </a:extLst>
          </p:cNvPr>
          <p:cNvSpPr/>
          <p:nvPr/>
        </p:nvSpPr>
        <p:spPr>
          <a:xfrm>
            <a:off x="195550" y="4936267"/>
            <a:ext cx="1367809" cy="27148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CH" sz="800" u="sng" dirty="0" err="1"/>
              <a:t>measurement_id</a:t>
            </a:r>
            <a:endParaRPr lang="de-CH" sz="800" u="sng" dirty="0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751355ED-0E03-B3AA-599A-411EC471D0CC}"/>
              </a:ext>
            </a:extLst>
          </p:cNvPr>
          <p:cNvSpPr/>
          <p:nvPr/>
        </p:nvSpPr>
        <p:spPr>
          <a:xfrm>
            <a:off x="1667517" y="4945557"/>
            <a:ext cx="1369129" cy="27148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CH" sz="800" u="sng" dirty="0" err="1"/>
              <a:t>measurement_id</a:t>
            </a:r>
            <a:endParaRPr lang="de-CH" sz="800" u="sng" dirty="0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01FE700A-A391-D71E-E57E-E78C4EAC56D2}"/>
              </a:ext>
            </a:extLst>
          </p:cNvPr>
          <p:cNvSpPr/>
          <p:nvPr/>
        </p:nvSpPr>
        <p:spPr>
          <a:xfrm>
            <a:off x="3106396" y="4945557"/>
            <a:ext cx="1369129" cy="27148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CH" sz="800" u="sng" dirty="0" err="1"/>
              <a:t>measurement_id</a:t>
            </a:r>
            <a:endParaRPr lang="de-CH" sz="800" u="sng" dirty="0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E92B9EF6-2EB0-9D42-C86C-F337DE02A686}"/>
              </a:ext>
            </a:extLst>
          </p:cNvPr>
          <p:cNvSpPr/>
          <p:nvPr/>
        </p:nvSpPr>
        <p:spPr>
          <a:xfrm>
            <a:off x="4607742" y="4936266"/>
            <a:ext cx="1369129" cy="27148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CH" sz="800" u="sng" dirty="0" err="1"/>
              <a:t>measurement_id</a:t>
            </a:r>
            <a:endParaRPr lang="de-CH" sz="800" u="sng" dirty="0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58BC2F1A-AEF6-26D3-43D4-94DEB15F52A9}"/>
              </a:ext>
            </a:extLst>
          </p:cNvPr>
          <p:cNvSpPr/>
          <p:nvPr/>
        </p:nvSpPr>
        <p:spPr>
          <a:xfrm>
            <a:off x="3231049" y="2683472"/>
            <a:ext cx="1136734" cy="26522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800" u="sng" dirty="0"/>
          </a:p>
          <a:p>
            <a:pPr algn="ctr"/>
            <a:r>
              <a:rPr lang="de-CH" sz="800" u="sng" dirty="0" err="1"/>
              <a:t>measured_id</a:t>
            </a:r>
            <a:endParaRPr lang="de-CH" sz="800" u="sng" dirty="0"/>
          </a:p>
          <a:p>
            <a:pPr algn="ctr"/>
            <a:endParaRPr lang="de-CH" sz="800" dirty="0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C8638AD1-3A25-E6AB-8484-D58517FADCFB}"/>
              </a:ext>
            </a:extLst>
          </p:cNvPr>
          <p:cNvSpPr/>
          <p:nvPr/>
        </p:nvSpPr>
        <p:spPr>
          <a:xfrm>
            <a:off x="3710567" y="3048871"/>
            <a:ext cx="960783" cy="49821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CH" sz="800" dirty="0" err="1"/>
              <a:t>datetime</a:t>
            </a:r>
            <a:endParaRPr lang="de-CH" sz="800" dirty="0"/>
          </a:p>
        </p:txBody>
      </p: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31C051E0-B698-32C1-06DA-4370D835AB34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3337383" y="3297980"/>
            <a:ext cx="373184" cy="618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152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204A3F-B13D-1AC9-A719-4E66005E7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Formular zur Eingabe von Patientendaten</a:t>
            </a:r>
            <a:endParaRPr lang="de-CH" dirty="0"/>
          </a:p>
        </p:txBody>
      </p:sp>
      <p:pic>
        <p:nvPicPr>
          <p:cNvPr id="7" name="Рисунок 6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31D898D-4715-4096-12A9-81334031E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552" y="1814144"/>
            <a:ext cx="5509317" cy="3989626"/>
          </a:xfrm>
          <a:prstGeom prst="rect">
            <a:avLst/>
          </a:prstGeom>
        </p:spPr>
      </p:pic>
      <p:pic>
        <p:nvPicPr>
          <p:cNvPr id="11" name="Объект 10" descr="Изображение выглядит как текст, снимок экрана, программное обеспечение, Мультимедийное программное обеспечение">
            <a:extLst>
              <a:ext uri="{FF2B5EF4-FFF2-40B4-BE49-F238E27FC236}">
                <a16:creationId xmlns:a16="http://schemas.microsoft.com/office/drawing/2014/main" id="{9954E3F6-DBD2-47AD-02C3-725718A6AD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4385" y="1814144"/>
            <a:ext cx="5919537" cy="397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383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9B085F-19DF-8946-A4CD-00C0EC05E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47" y="365125"/>
            <a:ext cx="11573689" cy="1325563"/>
          </a:xfrm>
        </p:spPr>
        <p:txBody>
          <a:bodyPr/>
          <a:lstStyle/>
          <a:p>
            <a:pPr algn="ctr"/>
            <a:r>
              <a:rPr lang="de-DE" dirty="0"/>
              <a:t>Ansicht/Abfrage mit Datenanzeige </a:t>
            </a:r>
            <a:br>
              <a:rPr lang="de-DE" dirty="0"/>
            </a:br>
            <a:r>
              <a:rPr lang="de-DE" dirty="0"/>
              <a:t>(Liste, Filter, Plot)</a:t>
            </a:r>
            <a:endParaRPr lang="de-CH" dirty="0"/>
          </a:p>
        </p:txBody>
      </p:sp>
      <p:pic>
        <p:nvPicPr>
          <p:cNvPr id="5" name="Объект 4" descr="Изображение выглядит как текст, снимок экрана, программное обеспечение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360497C-01C9-0FBE-5F23-B64856FB74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422" y="2096326"/>
            <a:ext cx="5214235" cy="3988217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CF6C809-B0C0-C92A-4CDF-18B3E35A3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3251" y="2096325"/>
            <a:ext cx="6236860" cy="398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11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 descr="Изображение выглядит как мультфильм, рисунок, графическая вставка, иллюстр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096DF69-A30A-2207-3D2D-AAF0408F8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849" y="4369730"/>
            <a:ext cx="2247916" cy="2247916"/>
          </a:xfrm>
          <a:prstGeom prst="rect">
            <a:avLst/>
          </a:prstGeom>
          <a:ln>
            <a:solidFill>
              <a:schemeClr val="bg1"/>
            </a:solidFill>
          </a:ln>
          <a:effectLst>
            <a:softEdge rad="127000"/>
          </a:effec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5445A0-9645-0CF9-9B60-1B66D39FC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Connection</a:t>
            </a:r>
            <a:endParaRPr lang="de-CH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F90360-F7BD-13DB-3571-AB60C297D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705" y="4132960"/>
            <a:ext cx="10515600" cy="132556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 </a:t>
            </a:r>
            <a:r>
              <a:rPr lang="de-CH" sz="2000" dirty="0"/>
              <a:t>Live Demo</a:t>
            </a:r>
            <a:r>
              <a:rPr lang="en-US" sz="2000" dirty="0"/>
              <a:t>: </a:t>
            </a:r>
            <a:r>
              <a:rPr lang="de-CH" sz="2000" dirty="0"/>
              <a:t>https://medimpact-kirtaeva.streamlit.app/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E02C33-523F-528E-91C4-3E48997CEC25}"/>
              </a:ext>
            </a:extLst>
          </p:cNvPr>
          <p:cNvSpPr txBox="1"/>
          <p:nvPr/>
        </p:nvSpPr>
        <p:spPr>
          <a:xfrm>
            <a:off x="838200" y="1932114"/>
            <a:ext cx="89956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 You can now view my MID app in your browser:</a:t>
            </a:r>
            <a:endParaRPr lang="de-CH" sz="2800" dirty="0"/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8F7CCEC7-DEC2-398E-CF36-399A3F4E3BA8}"/>
              </a:ext>
            </a:extLst>
          </p:cNvPr>
          <p:cNvGrpSpPr/>
          <p:nvPr/>
        </p:nvGrpSpPr>
        <p:grpSpPr>
          <a:xfrm>
            <a:off x="5533175" y="3786890"/>
            <a:ext cx="858960" cy="675000"/>
            <a:chOff x="5533175" y="3786890"/>
            <a:chExt cx="858960" cy="67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6" name="Рукописный ввод 15">
                  <a:extLst>
                    <a:ext uri="{FF2B5EF4-FFF2-40B4-BE49-F238E27FC236}">
                      <a16:creationId xmlns:a16="http://schemas.microsoft.com/office/drawing/2014/main" id="{F50DC081-125C-F3EF-D541-B793C0DCEF59}"/>
                    </a:ext>
                  </a:extLst>
                </p14:cNvPr>
                <p14:cNvContentPartPr/>
                <p14:nvPr/>
              </p14:nvContentPartPr>
              <p14:xfrm>
                <a:off x="5533175" y="3786890"/>
                <a:ext cx="858960" cy="659880"/>
              </p14:xfrm>
            </p:contentPart>
          </mc:Choice>
          <mc:Fallback xmlns="">
            <p:pic>
              <p:nvPicPr>
                <p:cNvPr id="16" name="Рукописный ввод 15">
                  <a:extLst>
                    <a:ext uri="{FF2B5EF4-FFF2-40B4-BE49-F238E27FC236}">
                      <a16:creationId xmlns:a16="http://schemas.microsoft.com/office/drawing/2014/main" id="{F50DC081-125C-F3EF-D541-B793C0DCEF5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497535" y="3750890"/>
                  <a:ext cx="930600" cy="73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7" name="Рукописный ввод 16">
                  <a:extLst>
                    <a:ext uri="{FF2B5EF4-FFF2-40B4-BE49-F238E27FC236}">
                      <a16:creationId xmlns:a16="http://schemas.microsoft.com/office/drawing/2014/main" id="{2883DD6C-1453-33C8-4B9F-451D0690E3F0}"/>
                    </a:ext>
                  </a:extLst>
                </p14:cNvPr>
                <p14:cNvContentPartPr/>
                <p14:nvPr/>
              </p14:nvContentPartPr>
              <p14:xfrm>
                <a:off x="5581055" y="4277570"/>
                <a:ext cx="424080" cy="184320"/>
              </p14:xfrm>
            </p:contentPart>
          </mc:Choice>
          <mc:Fallback xmlns="">
            <p:pic>
              <p:nvPicPr>
                <p:cNvPr id="17" name="Рукописный ввод 16">
                  <a:extLst>
                    <a:ext uri="{FF2B5EF4-FFF2-40B4-BE49-F238E27FC236}">
                      <a16:creationId xmlns:a16="http://schemas.microsoft.com/office/drawing/2014/main" id="{2883DD6C-1453-33C8-4B9F-451D0690E3F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545055" y="4241930"/>
                  <a:ext cx="4957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9" name="Рукописный ввод 18">
                  <a:extLst>
                    <a:ext uri="{FF2B5EF4-FFF2-40B4-BE49-F238E27FC236}">
                      <a16:creationId xmlns:a16="http://schemas.microsoft.com/office/drawing/2014/main" id="{5CBE7D99-87BE-B739-D196-937B69C6449A}"/>
                    </a:ext>
                  </a:extLst>
                </p14:cNvPr>
                <p14:cNvContentPartPr/>
                <p14:nvPr/>
              </p14:nvContentPartPr>
              <p14:xfrm>
                <a:off x="5533175" y="3994610"/>
                <a:ext cx="102240" cy="452160"/>
              </p14:xfrm>
            </p:contentPart>
          </mc:Choice>
          <mc:Fallback xmlns="">
            <p:pic>
              <p:nvPicPr>
                <p:cNvPr id="19" name="Рукописный ввод 18">
                  <a:extLst>
                    <a:ext uri="{FF2B5EF4-FFF2-40B4-BE49-F238E27FC236}">
                      <a16:creationId xmlns:a16="http://schemas.microsoft.com/office/drawing/2014/main" id="{5CBE7D99-87BE-B739-D196-937B69C6449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497535" y="3958610"/>
                  <a:ext cx="173880" cy="523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58FD5532-9CA2-3FA7-8B9D-499A4A98E65B}"/>
              </a:ext>
            </a:extLst>
          </p:cNvPr>
          <p:cNvSpPr txBox="1"/>
          <p:nvPr/>
        </p:nvSpPr>
        <p:spPr>
          <a:xfrm>
            <a:off x="9201108" y="3938080"/>
            <a:ext cx="291737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/>
              <a:t>«Chef, wir haben ein Problem... </a:t>
            </a:r>
            <a:endParaRPr lang="ru-RU" sz="1400" dirty="0"/>
          </a:p>
          <a:p>
            <a:r>
              <a:rPr lang="de-DE" sz="1400" dirty="0"/>
              <a:t>Die Bakterien haben eine eigene </a:t>
            </a:r>
          </a:p>
          <a:p>
            <a:r>
              <a:rPr lang="de-DE" sz="1400" dirty="0"/>
              <a:t>SQL-Datenbank erstellt и mich ausgesperrt!»</a:t>
            </a:r>
            <a:endParaRPr lang="de-CH" sz="1400" dirty="0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141438F0-BCC7-EDE9-D128-2ADD87A4E8B0}"/>
              </a:ext>
            </a:extLst>
          </p:cNvPr>
          <p:cNvSpPr/>
          <p:nvPr/>
        </p:nvSpPr>
        <p:spPr>
          <a:xfrm>
            <a:off x="9771846" y="5317667"/>
            <a:ext cx="508939" cy="313973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7" name="Облако 26">
            <a:extLst>
              <a:ext uri="{FF2B5EF4-FFF2-40B4-BE49-F238E27FC236}">
                <a16:creationId xmlns:a16="http://schemas.microsoft.com/office/drawing/2014/main" id="{C9D41EDD-2F48-AFC5-B464-00AD5F3F68FD}"/>
              </a:ext>
            </a:extLst>
          </p:cNvPr>
          <p:cNvSpPr/>
          <p:nvPr/>
        </p:nvSpPr>
        <p:spPr>
          <a:xfrm>
            <a:off x="8978995" y="3358138"/>
            <a:ext cx="3031957" cy="2023183"/>
          </a:xfrm>
          <a:prstGeom prst="cloud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473156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7C5700-6E31-A6F6-6571-9CE570378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/>
              <a:t>Vielen Dank für Ihre Aufmerksamkeit</a:t>
            </a:r>
            <a:endParaRPr lang="de-CH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1838BF-6BA4-C490-BCF2-0CC019B25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01329"/>
            <a:ext cx="10515600" cy="3275634"/>
          </a:xfrm>
        </p:spPr>
        <p:txBody>
          <a:bodyPr/>
          <a:lstStyle/>
          <a:p>
            <a:r>
              <a:rPr lang="de-DE" b="1" dirty="0" err="1"/>
              <a:t>return</a:t>
            </a:r>
            <a:r>
              <a:rPr lang="de-DE" b="1" dirty="0"/>
              <a:t> 0;</a:t>
            </a:r>
            <a:br>
              <a:rPr lang="de-DE" dirty="0"/>
            </a:br>
            <a:r>
              <a:rPr lang="de-DE" i="1" dirty="0"/>
              <a:t>— Ende der Präsentation. Fehlerfrei beendet.</a:t>
            </a:r>
            <a:r>
              <a:rPr lang="de-DE" dirty="0"/>
              <a:t> 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5301494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</Words>
  <Application>Microsoft Office PowerPoint</Application>
  <PresentationFormat>Широкоэкранный</PresentationFormat>
  <Paragraphs>64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JetBrains Mono</vt:lpstr>
      <vt:lpstr>Wingdings</vt:lpstr>
      <vt:lpstr>Тема Office</vt:lpstr>
      <vt:lpstr>Презентация PowerPoint</vt:lpstr>
      <vt:lpstr>Das Ziel. Die Anwendung</vt:lpstr>
      <vt:lpstr>3-Tier Architecture</vt:lpstr>
      <vt:lpstr>ER - Diagramm</vt:lpstr>
      <vt:lpstr>Erstellung von SQL-Tabellen aus ER-Diagramm</vt:lpstr>
      <vt:lpstr>Formular zur Eingabe von Patientendaten</vt:lpstr>
      <vt:lpstr>Ansicht/Abfrage mit Datenanzeige  (Liste, Filter, Plot)</vt:lpstr>
      <vt:lpstr>Connection</vt:lpstr>
      <vt:lpstr>Vielen Dank für Ihre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Olga Kirtaeva</dc:creator>
  <cp:lastModifiedBy>Kirtaeva Olga (kirtaolg)</cp:lastModifiedBy>
  <cp:revision>16</cp:revision>
  <dcterms:created xsi:type="dcterms:W3CDTF">2025-12-17T15:18:16Z</dcterms:created>
  <dcterms:modified xsi:type="dcterms:W3CDTF">2026-10-22T17:05:14Z</dcterms:modified>
</cp:coreProperties>
</file>